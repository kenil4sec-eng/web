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Stolen ($M)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4D4E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3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6F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E6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07A9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Poly
Network</c:v>
                  </c:pt>
                  <c:pt idx="1">
                    <c:v>Ronin
Bridge</c:v>
                  </c:pt>
                  <c:pt idx="2">
                    <c:v>BNB
Bridge</c:v>
                  </c:pt>
                  <c:pt idx="3">
                    <c:v>Wormhole</c:v>
                  </c:pt>
                  <c:pt idx="4">
                    <c:v>Nomad</c:v>
                  </c:pt>
                  <c:pt idx="5">
                    <c:v>Harmony</c:v>
                  </c:pt>
                  <c:pt idx="6">
                    <c:v>Multi-
chain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611</c:v>
                </c:pt>
                <c:pt idx="1">
                  <c:v>625</c:v>
                </c:pt>
                <c:pt idx="2">
                  <c:v>570</c:v>
                </c:pt>
                <c:pt idx="3">
                  <c:v>320</c:v>
                </c:pt>
                <c:pt idx="4">
                  <c:v>190</c:v>
                </c:pt>
                <c:pt idx="5">
                  <c:v>100</c:v>
                </c:pt>
                <c:pt idx="6">
                  <c:v>126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4D4E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A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A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0432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40864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11296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1728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22592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3024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-1097280"/>
            <a:ext cx="5029200" cy="5029200"/>
          </a:xfrm>
          <a:prstGeom prst="ellipse">
            <a:avLst/>
          </a:prstGeom>
          <a:solidFill>
            <a:srgbClr val="FF3C3C">
              <a:alpha val="8000"/>
            </a:srgbClr>
          </a:solidFill>
          <a:ln w="12700">
            <a:solidFill>
              <a:srgbClr val="FF3C3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645920"/>
            <a:ext cx="3657600" cy="3657600"/>
          </a:xfrm>
          <a:prstGeom prst="ellipse">
            <a:avLst/>
          </a:prstGeom>
          <a:solidFill>
            <a:srgbClr val="7C6FFF">
              <a:alpha val="6000"/>
            </a:srgbClr>
          </a:solidFill>
          <a:ln w="12700">
            <a:solidFill>
              <a:srgbClr val="7C6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 TECHNOLOGIES — SESSION 10 — FINAL EXAM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ATTACK_CLASS: CROSS-CHAIN BRIDGE EXPLOITS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91440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Cross-Chain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Bridge Attacks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Ronin ($625M) + Wormhole ($320M)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$945M was stolen from two bridge protocols in 2022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one had zero lines of code exploited.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914400"/>
            <a:ext cx="237744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29400" y="10241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$625M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1444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RONIN BRIDGE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1920240"/>
            <a:ext cx="237744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$320M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83680" y="2450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WORMHOLE BRIDGE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2926080"/>
            <a:ext cx="237744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29400" y="30358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$945M+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83680" y="3456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STOLEN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3931920"/>
            <a:ext cx="237744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29400" y="4041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83680" y="4462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 BY: May 22, 2025  //  SESSION 10  //  COURSE: SECURITY 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00 —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8229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cross-chain bridges?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trust models, lock-and-mint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114800" cy="8229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2304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Ronin Bridge — $625M (March 2022)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key theft, spear-phishing, stale permissions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114800" cy="8229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310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Wormhole Bridge — $320M (Feb 2022)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bypass, 1-line code bug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4114800" cy="8229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comparison &amp; taxonomy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causes, vulnerability classes, $2B+ landscape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4114800" cy="8229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10912" y="2304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Defences &amp; mitigations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HSMs, ZK bridges, monitoring, patch ops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200400"/>
            <a:ext cx="4114800" cy="8229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10912" y="3310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connections &amp; takeaways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Crypto, Network Security, Smart Contracts, OpSec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solidFill>
            <a:srgbClr val="1A2535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480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CONNECTIONS: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46817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 Session 3: Cryptography (signature schemes)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46817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 Session 5: Network Security (P2P, mempool)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46817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 Session 7: Smart Contract Security (Solidity, EVM)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46817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 Session 9: Incident Response &amp; Attribution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— BRIDGE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Cross-Chain Bridge?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Blockchains are isolated. Ethereum cannot natively read Solana's state. A bridge locks assets on Chain A and mints a wrapped representation on Chain B. The bridge contract decides when to mint — and that authorization mechanism is the entire attack surface.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011680" cy="2377440"/>
          </a:xfrm>
          <a:prstGeom prst="rect">
            <a:avLst/>
          </a:prstGeom>
          <a:solidFill>
            <a:srgbClr val="0D152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011680"/>
            <a:ext cx="2011680" cy="0"/>
          </a:xfrm>
          <a:prstGeom prst="line">
            <a:avLst/>
          </a:prstGeom>
          <a:noFill/>
          <a:ln w="6350">
            <a:solidFill>
              <a:srgbClr val="1C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01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A (Ethereum)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645920" cy="640080"/>
          </a:xfrm>
          <a:prstGeom prst="rect">
            <a:avLst/>
          </a:prstGeom>
          <a:solidFill>
            <a:srgbClr val="1A2535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2128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 Contract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3957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Locks user tokens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645920" cy="640080"/>
          </a:xfrm>
          <a:prstGeom prst="rect">
            <a:avLst/>
          </a:prstGeom>
          <a:solidFill>
            <a:srgbClr val="1A2535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626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Vault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1455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Holds locked assets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2395728"/>
            <a:ext cx="5029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2761488" y="2331720"/>
            <a:ext cx="109728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1737360"/>
            <a:ext cx="2240280" cy="2377440"/>
          </a:xfrm>
          <a:prstGeom prst="rect">
            <a:avLst/>
          </a:prstGeom>
          <a:solidFill>
            <a:srgbClr val="1A150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34640" y="2011680"/>
            <a:ext cx="2240280" cy="0"/>
          </a:xfrm>
          <a:prstGeom prst="line">
            <a:avLst/>
          </a:prstGeom>
          <a:noFill/>
          <a:ln w="6350">
            <a:solidFill>
              <a:srgbClr val="1C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8013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 Layer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2103120"/>
            <a:ext cx="1874520" cy="640080"/>
          </a:xfrm>
          <a:prstGeom prst="rect">
            <a:avLst/>
          </a:prstGeom>
          <a:solidFill>
            <a:srgbClr val="261E0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27248" y="22128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 Set / Relayer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27248" y="23957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+ sign messages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2852928"/>
            <a:ext cx="1874520" cy="640080"/>
          </a:xfrm>
          <a:prstGeom prst="rect">
            <a:avLst/>
          </a:prstGeom>
          <a:solidFill>
            <a:srgbClr val="261E0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27248" y="296265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Signature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27248" y="314553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5-of-9 multisig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4187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ATTACK SURFACE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2395728"/>
            <a:ext cx="502920" cy="0"/>
          </a:xfrm>
          <a:prstGeom prst="line">
            <a:avLst/>
          </a:prstGeom>
          <a:noFill/>
          <a:ln w="19050">
            <a:solidFill>
              <a:srgbClr val="FF6E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5504688" y="2331720"/>
            <a:ext cx="109728" cy="128016"/>
          </a:xfrm>
          <a:prstGeom prst="rect">
            <a:avLst/>
          </a:prstGeom>
          <a:solidFill>
            <a:srgbClr val="FF6E6E"/>
          </a:solidFill>
          <a:ln w="12700">
            <a:solidFill>
              <a:srgbClr val="FF6E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737360"/>
            <a:ext cx="2011680" cy="2377440"/>
          </a:xfrm>
          <a:prstGeom prst="rect">
            <a:avLst/>
          </a:prstGeom>
          <a:solidFill>
            <a:srgbClr val="0D152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7840" y="2011680"/>
            <a:ext cx="2011680" cy="0"/>
          </a:xfrm>
          <a:prstGeom prst="line">
            <a:avLst/>
          </a:prstGeom>
          <a:noFill/>
          <a:ln w="6350">
            <a:solidFill>
              <a:srgbClr val="1C2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1801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B (Ronin/Solana)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2103120"/>
            <a:ext cx="1645920" cy="640080"/>
          </a:xfrm>
          <a:prstGeom prst="rect">
            <a:avLst/>
          </a:prstGeom>
          <a:solidFill>
            <a:srgbClr val="1A2535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70448" y="22128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 Contract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70448" y="23957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Mints wrapped tokens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2852928"/>
            <a:ext cx="1645920" cy="640080"/>
          </a:xfrm>
          <a:prstGeom prst="rect">
            <a:avLst/>
          </a:prstGeom>
          <a:solidFill>
            <a:srgbClr val="1A2535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70448" y="29626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Wrapped Token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70448" y="31455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wETH, wBTC...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0" y="1737360"/>
            <a:ext cx="1234440" cy="2377440"/>
          </a:xfrm>
          <a:prstGeom prst="rect">
            <a:avLst/>
          </a:prstGeom>
          <a:solidFill>
            <a:srgbClr val="1A0808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818120" y="2103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$2B+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845552" y="2633472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stolen from bridges in 2022 alone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6384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DeFi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 class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343400"/>
            <a:ext cx="7269480" cy="566928"/>
          </a:xfrm>
          <a:prstGeom prst="rect">
            <a:avLst/>
          </a:prstGeom>
          <a:solidFill>
            <a:srgbClr val="1A120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" y="444398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INSIGHT: The validator authorization mechanism is the entire trust assumption of every bridge. Corrupt the validator layer = own the bridge.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FF3C3C">
              <a:alpha val="6000"/>
            </a:srgbClr>
          </a:solidFill>
          <a:ln w="12700">
            <a:solidFill>
              <a:srgbClr val="FF3C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— ATTACK_01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 SECURITY FAILURE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Ronin Bridge Hack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$625,000,000 stolen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23, 2022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993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3756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Axie Infinity / Ronin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993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 STOLEN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173,600 ETH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USDC STOLEN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25.5M USDC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3756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days later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Lazarus Group (DPRK)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192024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145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5-of-9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 threshold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33472" y="3035808"/>
            <a:ext cx="192024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70632" y="3145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724912" y="3566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compromised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3035808"/>
            <a:ext cx="192024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46904" y="3145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01184" y="3566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Exploit transactions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86016" y="3035808"/>
            <a:ext cx="192024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23176" y="3145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77456" y="3566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bugs exploited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503920" cy="667512"/>
          </a:xfrm>
          <a:prstGeom prst="rect">
            <a:avLst/>
          </a:prstGeom>
          <a:solidFill>
            <a:srgbClr val="180808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206240"/>
            <a:ext cx="64008" cy="667512"/>
          </a:xfrm>
          <a:prstGeom prst="rect">
            <a:avLst/>
          </a:prstGeom>
          <a:solidFill>
            <a:srgbClr val="FF3C3C"/>
          </a:solidFill>
          <a:ln w="12700">
            <a:solidFill>
              <a:srgbClr val="FF3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297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4498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was exploited. The smart contract worked exactly as designed. The attacker obtained 4 real validator keys via spear-phishing and a 5th via a stale permission that was never revoked after a November 2021 emergency. Classic operational security failure.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— RONIN — ATTACK CHAIN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Attack Happened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005840"/>
          </a:xfrm>
          <a:prstGeom prst="rect">
            <a:avLst/>
          </a:prstGeom>
          <a:solidFill>
            <a:srgbClr val="FF3C3C"/>
          </a:solidFill>
          <a:ln w="12700">
            <a:solidFill>
              <a:srgbClr val="FF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Spear-phishing via LinkedIn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received fake job offer PDF from Lazarus Group. PDF executed malware → 4 Sky Mavis validator keys exfiltrated.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411480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54864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DAO permission discovered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2021: Sky Mavis granted emergency access to Axie DAO validator. Never revoked. Attacker exploits it as key #5.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411480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54864" cy="1005840"/>
          </a:xfrm>
          <a:prstGeom prst="rect">
            <a:avLst/>
          </a:prstGeom>
          <a:solidFill>
            <a:srgbClr val="FF6E6E"/>
          </a:solidFill>
          <a:ln w="12700">
            <a:solidFill>
              <a:srgbClr val="FF6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reached: 5-of-9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SM keys (phished) + 1 DAO key (stale permission) = 5/9. Exactly the withdrawal threshold. Attack is now possible.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54864" cy="1005840"/>
          </a:xfrm>
          <a:prstGeom prst="rect">
            <a:avLst/>
          </a:prstGeom>
          <a:solidFill>
            <a:srgbClr val="FF3C3C"/>
          </a:solidFill>
          <a:ln w="12700">
            <a:solidFill>
              <a:srgbClr val="FF3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143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TX1: withdraw 173,600 ETH ($594M)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23, 06:24 UTC. 5 valid signatures submitted. Contract verifies, approves, transfers.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54864" cy="1005840"/>
          </a:xfrm>
          <a:prstGeom prst="rect">
            <a:avLst/>
          </a:prstGeom>
          <a:solidFill>
            <a:srgbClr val="FF3C3C"/>
          </a:solidFill>
          <a:ln w="12700">
            <a:solidFill>
              <a:srgbClr val="FF3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31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TX2: withdraw 25.5M USDC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651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23, 06:26 UTC. Same 5 keys. Second withdrawal drains USDC. Vault now empty.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411480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29000"/>
            <a:ext cx="54864" cy="1005840"/>
          </a:xfrm>
          <a:prstGeom prst="rect">
            <a:avLst/>
          </a:prstGeom>
          <a:solidFill>
            <a:srgbClr val="607A94"/>
          </a:solidFill>
          <a:ln w="12700">
            <a:solidFill>
              <a:srgbClr val="607A9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520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for 6 days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840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 on withdrawal events. Discovered March 29 when a user reported a failed withdrawal.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53128" y="1554480"/>
            <a:ext cx="0" cy="2377440"/>
          </a:xfrm>
          <a:prstGeom prst="line">
            <a:avLst/>
          </a:prstGeom>
          <a:noFill/>
          <a:ln w="6350">
            <a:solidFill>
              <a:srgbClr val="1C2A3A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315968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then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7C6FFF">
              <a:alpha val="6000"/>
            </a:srgbClr>
          </a:solidFill>
          <a:ln w="12700">
            <a:solidFill>
              <a:srgbClr val="7C6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— ATTACK_02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 VERIFICATION BYPASS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Wormhole Bridge Hack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$320,000,000 stolen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February 2, 2022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993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3756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↔ Ethereum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993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whETH MINTED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120,000 (from nothing)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 DEPOSITED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SIZE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3756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line of 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BACKSTOP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Crypto $320M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192024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145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 validators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33472" y="3035808"/>
            <a:ext cx="192024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70632" y="3145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724912" y="3566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Guardians who signed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3035808"/>
            <a:ext cx="192024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46904" y="3145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01184" y="3566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whETH minted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86016" y="3035808"/>
            <a:ext cx="1920240" cy="100584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23176" y="3145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77456" y="3566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of code to fix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503920" cy="667512"/>
          </a:xfrm>
          <a:prstGeom prst="rect">
            <a:avLst/>
          </a:prstGeom>
          <a:solidFill>
            <a:srgbClr val="0C0818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206240"/>
            <a:ext cx="64008" cy="667512"/>
          </a:xfrm>
          <a:prstGeom prst="rect">
            <a:avLst/>
          </a:prstGeom>
          <a:solidFill>
            <a:srgbClr val="7C6FFF"/>
          </a:solidFill>
          <a:ln w="12700">
            <a:solidFill>
              <a:srgbClr val="7C6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297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4498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Solana program's verify_signatures() function read signature data from a caller-supplied account — without verifying that account was owned by the real secp256k1 system program. Attacker passed a fake account with fabricated data. One missing line of Rust bypassed an entire 19-node Guardian network.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— WORMHOLE — THE BUG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One-Line Bug That Cost $320M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429000"/>
          </a:xfrm>
          <a:prstGeom prst="rect">
            <a:avLst/>
          </a:prstGeom>
          <a:solidFill>
            <a:srgbClr val="0F0808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256032"/>
          </a:xfrm>
          <a:prstGeom prst="rect">
            <a:avLst/>
          </a:prstGeom>
          <a:solidFill>
            <a:srgbClr val="3D0808"/>
          </a:solidFill>
          <a:ln w="6350">
            <a:solidFill>
              <a:srgbClr val="FF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424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50" kern="0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VULNERABLE — before patch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verify_signatures(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instruction_sysvar: &amp;AccountInfo,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guardian_set: &amp;AccountInfo,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Result&lt;()&gt;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6654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NO OWNER 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4942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attacker passes any account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with fake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9806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ix = load_instruction_at(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8094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6382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instruction_sysvar  // ← unverified!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4670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)?;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verify(ix, guardian_set)?;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1246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Ok(())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9534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005840"/>
            <a:ext cx="4023360" cy="3429000"/>
          </a:xfrm>
          <a:prstGeom prst="rect">
            <a:avLst/>
          </a:prstGeom>
          <a:solidFill>
            <a:srgbClr val="080F08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005840"/>
            <a:ext cx="4023360" cy="256032"/>
          </a:xfrm>
          <a:prstGeom prst="rect">
            <a:avLst/>
          </a:prstGeom>
          <a:solidFill>
            <a:srgbClr val="0D3D0D"/>
          </a:solidFill>
          <a:ln w="6350">
            <a:solidFill>
              <a:srgbClr val="00D6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424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50" kern="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— after patch (1 line added)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133502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verify_signatures(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151790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instruction_sysvar: &amp;AccountInfo,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170078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guardian_set: &amp;AccountInfo,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188366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Result&lt;()&gt; {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206654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ONE LINE FIX: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224942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check_account_owner(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43230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instruction_sysvar,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261518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&amp;sysvar::id(),  // real owner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279806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WormholeError::InvalidSysvar)?;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298094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ix = load_instruction_at(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316382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34670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instruction_sysvar  // ← now verified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352958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)?;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71246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verify(ix, guardian_set)?;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3895344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Ok(()) // ← only with real Guardian sigs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663440"/>
            <a:ext cx="8503920" cy="301752"/>
          </a:xfrm>
          <a:prstGeom prst="rect">
            <a:avLst/>
          </a:prstGeom>
          <a:solidFill>
            <a:srgbClr val="1A120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7183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attacker read the undeployed patch on GitHub and raced to exploit before it went live. Ops lesson: NEVER push security patches to public repos before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—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Ronin vs Wormhole — Same Class, Different Root Cause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2743200" cy="274320"/>
          </a:xfrm>
          <a:prstGeom prst="rect">
            <a:avLst/>
          </a:prstGeom>
          <a:solidFill>
            <a:srgbClr val="1A0808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Ronin — $625M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26480" y="1024128"/>
            <a:ext cx="2743200" cy="274320"/>
          </a:xfrm>
          <a:prstGeom prst="rect">
            <a:avLst/>
          </a:prstGeom>
          <a:solidFill>
            <a:srgbClr val="0C0818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078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Wormhole — $320M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331720" cy="384048"/>
          </a:xfrm>
          <a:prstGeom prst="rect">
            <a:avLst/>
          </a:prstGeom>
          <a:solidFill>
            <a:srgbClr val="0D152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class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389888"/>
            <a:ext cx="3337560" cy="384048"/>
          </a:xfrm>
          <a:prstGeom prst="rect">
            <a:avLst/>
          </a:prstGeom>
          <a:solidFill>
            <a:srgbClr val="160A0A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16352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OpSec / key theft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14813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389888"/>
            <a:ext cx="2743200" cy="384048"/>
          </a:xfrm>
          <a:prstGeom prst="rect">
            <a:avLst/>
          </a:prstGeom>
          <a:solidFill>
            <a:srgbClr val="0A0A16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 verification bypass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233172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920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1828800"/>
            <a:ext cx="333756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16352" y="1920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 spear-phishing → malware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192024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1828800"/>
            <a:ext cx="274320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91072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Rust account owner check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267712"/>
            <a:ext cx="2331720" cy="384048"/>
          </a:xfrm>
          <a:prstGeom prst="rect">
            <a:avLst/>
          </a:prstGeom>
          <a:solidFill>
            <a:srgbClr val="0D152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359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exploited?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2267712"/>
            <a:ext cx="3337560" cy="384048"/>
          </a:xfrm>
          <a:prstGeom prst="rect">
            <a:avLst/>
          </a:prstGeom>
          <a:solidFill>
            <a:srgbClr val="160A0A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16352" y="23591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contract was correct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23591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2267712"/>
            <a:ext cx="2743200" cy="384048"/>
          </a:xfrm>
          <a:prstGeom prst="rect">
            <a:avLst/>
          </a:prstGeom>
          <a:solidFill>
            <a:srgbClr val="0A0A16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91072" y="2359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one missing check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706624"/>
            <a:ext cx="233172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7980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broken?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97480" y="2706624"/>
            <a:ext cx="333756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816352" y="27980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signatures were real keys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27980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72200" y="2706624"/>
            <a:ext cx="274320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91072" y="2798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check simply bypassed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145536"/>
            <a:ext cx="2331720" cy="384048"/>
          </a:xfrm>
          <a:prstGeom prst="rect">
            <a:avLst/>
          </a:prstGeom>
          <a:solidFill>
            <a:srgbClr val="0D152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2369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time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97480" y="3145536"/>
            <a:ext cx="3337560" cy="384048"/>
          </a:xfrm>
          <a:prstGeom prst="rect">
            <a:avLst/>
          </a:prstGeom>
          <a:solidFill>
            <a:srgbClr val="160A0A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816352" y="32369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days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32369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72200" y="3145536"/>
            <a:ext cx="2743200" cy="384048"/>
          </a:xfrm>
          <a:prstGeom prst="rect">
            <a:avLst/>
          </a:prstGeom>
          <a:solidFill>
            <a:srgbClr val="0A0A16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91072" y="3236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3584448"/>
            <a:ext cx="233172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3675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697480" y="3584448"/>
            <a:ext cx="333756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816352" y="36758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Lazarus Group (DPRK)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89320" y="36758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72200" y="3584448"/>
            <a:ext cx="274320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91072" y="3675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 (sophisticated)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023360"/>
            <a:ext cx="2331720" cy="384048"/>
          </a:xfrm>
          <a:prstGeom prst="rect">
            <a:avLst/>
          </a:prstGeom>
          <a:solidFill>
            <a:srgbClr val="0D1520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4114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97480" y="4023360"/>
            <a:ext cx="3337560" cy="384048"/>
          </a:xfrm>
          <a:prstGeom prst="rect">
            <a:avLst/>
          </a:prstGeom>
          <a:solidFill>
            <a:srgbClr val="160A0A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816352" y="4114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 Mavis raised $150M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89320" y="41148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172200" y="4023360"/>
            <a:ext cx="2743200" cy="384048"/>
          </a:xfrm>
          <a:prstGeom prst="rect">
            <a:avLst/>
          </a:prstGeom>
          <a:solidFill>
            <a:srgbClr val="0A0A16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91072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Crypto deposited 120K ETH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" y="4462272"/>
            <a:ext cx="233172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fix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697480" y="4462272"/>
            <a:ext cx="333756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816352" y="4553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HSMs + monitor + revoke stale perms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89320" y="45537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172200" y="4462272"/>
            <a:ext cx="2743200" cy="3840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291072" y="4553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1-line: check_account_owner()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4956048"/>
            <a:ext cx="8503920" cy="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0040" y="4956048"/>
            <a:ext cx="8503920" cy="0"/>
          </a:xfrm>
          <a:prstGeom prst="line">
            <a:avLst/>
          </a:prstGeom>
          <a:noFill/>
          <a:ln w="6350">
            <a:solidFill>
              <a:srgbClr val="1C2A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POINT: Both attacks succeeded without breaking any cryptography. One was a human failure, one a code failure — together they cover the full bridge attack surface.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— BRIDGE HACK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Bigger Picture — $2B+ in 2022 Alone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601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9601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5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 TAXONOMY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577840" y="1207008"/>
            <a:ext cx="3337560" cy="493776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207008"/>
            <a:ext cx="45720" cy="493776"/>
          </a:xfrm>
          <a:prstGeom prst="rect">
            <a:avLst/>
          </a:prstGeom>
          <a:solidFill>
            <a:srgbClr val="FF3C3C"/>
          </a:solidFill>
          <a:ln w="12700">
            <a:solidFill>
              <a:srgbClr val="FF3C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05856" y="12618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compromise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05856" y="14356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Ronin, Harmony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52360" y="1261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$725M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1773936"/>
            <a:ext cx="3337560" cy="493776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773936"/>
            <a:ext cx="45720" cy="493776"/>
          </a:xfrm>
          <a:prstGeom prst="rect">
            <a:avLst/>
          </a:prstGeom>
          <a:solidFill>
            <a:srgbClr val="7C6FFF"/>
          </a:solidFill>
          <a:ln w="12700">
            <a:solidFill>
              <a:srgbClr val="7C6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05856" y="18288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 verification bypass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05856" y="200253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Wormhole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52360" y="1828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$320M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2340864"/>
            <a:ext cx="3337560" cy="493776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340864"/>
            <a:ext cx="45720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05856" y="23957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control failure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05856" y="256946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 Network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52360" y="23957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$611M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77840" y="2907792"/>
            <a:ext cx="3337560" cy="493776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2907792"/>
            <a:ext cx="45720" cy="493776"/>
          </a:xfrm>
          <a:prstGeom prst="rect">
            <a:avLst/>
          </a:prstGeom>
          <a:solidFill>
            <a:srgbClr val="FF6E6E"/>
          </a:solidFill>
          <a:ln w="12700">
            <a:solidFill>
              <a:srgbClr val="FF6E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05856" y="29626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Uninit state / default trust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05856" y="313639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Nomad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52360" y="29626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$190M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77840" y="3474720"/>
            <a:ext cx="3337560" cy="493776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577840" y="3474720"/>
            <a:ext cx="45720" cy="493776"/>
          </a:xfrm>
          <a:prstGeom prst="rect">
            <a:avLst/>
          </a:prstGeom>
          <a:solidFill>
            <a:srgbClr val="607A94"/>
          </a:solidFill>
          <a:ln w="12700">
            <a:solidFill>
              <a:srgbClr val="607A9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05856" y="35295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replay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705856" y="37033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Various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52360" y="35295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20040" y="4343400"/>
            <a:ext cx="8595360" cy="548640"/>
          </a:xfrm>
          <a:prstGeom prst="rect">
            <a:avLst/>
          </a:prstGeom>
          <a:solidFill>
            <a:srgbClr val="180A0A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02920" y="44165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$2,000,000,000+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3520440" y="44622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from cross-chain bridges in 2022 alone — more than any other DeFi vulnerability class that year.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— DEFENCES &amp; MITIGATIONS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Defend Against Bridge Attacks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0515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051560"/>
          </a:xfrm>
          <a:prstGeom prst="rect">
            <a:avLst/>
          </a:prstGeom>
          <a:solidFill>
            <a:srgbClr val="FF3C3C"/>
          </a:solidFill>
          <a:ln w="12700">
            <a:solidFill>
              <a:srgbClr val="FF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Security Modules (HSMs)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03320" y="1143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[Fixes Ronin]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538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private keys stored in HSMs or air-gapped machines. Keys must never touch internet-connected systems. Eliminates the phishing vector entirely.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0515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1051560"/>
          </a:xfrm>
          <a:prstGeom prst="rect">
            <a:avLst/>
          </a:prstGeom>
          <a:solidFill>
            <a:srgbClr val="7C6FFF"/>
          </a:solidFill>
          <a:ln w="12700">
            <a:solidFill>
              <a:srgbClr val="7C6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ownership checks (Solana)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1143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[Fixes Wormhole]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49240" y="14538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Solana and similar VMs, always verify that system accounts (sysvars) are owned by the expected program — not just that they have valid-looking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4114800" cy="10515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40280"/>
            <a:ext cx="54864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Time-locked permission expiry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2331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[Fixes Ronin]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26426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'temporary' access grant must auto-expire. No manual revocation. The Axie DAO permission that cost $625M was never revoked after the emergency ended.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40280"/>
            <a:ext cx="4114800" cy="10515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withdrawal monitoring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2331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[Fixes Ronin]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49240" y="26426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large withdrawals. Circuit breakers that pause the bridge above a threshold. $625M sat undetected for 6 days because nobody watched on-chain events.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429000"/>
            <a:ext cx="4114800" cy="10515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429000"/>
            <a:ext cx="54864" cy="1051560"/>
          </a:xfrm>
          <a:prstGeom prst="rect">
            <a:avLst/>
          </a:prstGeom>
          <a:solidFill>
            <a:srgbClr val="7C6FFF"/>
          </a:solidFill>
          <a:ln w="12700">
            <a:solidFill>
              <a:srgbClr val="7C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patch deployment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35204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[Fixes Wormhole]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14400" y="383133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patches must be deployed before public disclosure. Wormhole's attacker read the undeployed fix on public GitHub and exploited the vulnerability first.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light client bridges (long-term)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35204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[Architecture fix]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49240" y="383133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trusted validators with mathematical proofs. ZK bridges verify cross-chain state cryptographically — eliminating the human trust assumption entirely.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— COURSE CONNECTIONS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This Connects to the Course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8412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4864" cy="841248"/>
          </a:xfrm>
          <a:prstGeom prst="rect">
            <a:avLst/>
          </a:prstGeom>
          <a:solidFill>
            <a:srgbClr val="7C6FFF"/>
          </a:solidFill>
          <a:ln w="12700">
            <a:solidFill>
              <a:srgbClr val="7C6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078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schemes (secp256k1) underlie both attacks. The Wormhole bug bypassed secp256k1 verification entirely — not by breaking the math, but by never calling it. The Ronin attack used real valid signatures from stolen keys. Understanding ECDSA, threshold signatures, and multisig is prerequisite knowledge.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8503920" cy="8412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75104"/>
            <a:ext cx="54864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48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048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23225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Ronin bridge had no anomaly detection on its withdrawal events despite all transactions being public on-chain. Network monitoring, SIEM alerting, and circuit-breaker patterns apply directly. The 'dark forest' mempool problem (MEV, frontrunning bridge messages) connects to adversarial network environments.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8503920" cy="8412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44368"/>
            <a:ext cx="54864" cy="841248"/>
          </a:xfrm>
          <a:prstGeom prst="rect">
            <a:avLst/>
          </a:prstGeom>
          <a:solidFill>
            <a:srgbClr val="FF3C3C"/>
          </a:solidFill>
          <a:ln w="12700">
            <a:solidFill>
              <a:srgbClr val="FF3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17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291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failures (unprotected functions, stale permissions) and input validation bugs (missing owner checks) are foundational smart contract vulnerabilities. The Wormhole bug is a direct application of 'never trust caller-supplied accounts without verifying ownership' — a core Solana security principle.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913632"/>
            <a:ext cx="8503920" cy="841248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13632"/>
            <a:ext cx="54864" cy="84124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86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986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Attribution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42611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Ronin's 6-day detection gap is a case study in inadequate monitoring. The FBI attribution of Lazarus Group via on-chain wallet clustering and malware code signatures demonstrates threat actor profiling. Jump Crypto's rapid $320M replenishment shows crisis response decision-making under pressure.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6400800" cy="6400800"/>
          </a:xfrm>
          <a:prstGeom prst="ellipse">
            <a:avLst/>
          </a:prstGeom>
          <a:solidFill>
            <a:srgbClr val="FF3C3C">
              <a:alpha val="5000"/>
            </a:srgbClr>
          </a:solidFill>
          <a:ln w="12700">
            <a:solidFill>
              <a:srgbClr val="FF3C3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— KEY 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$945M Teaches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4864" cy="914400"/>
          </a:xfrm>
          <a:prstGeom prst="rect">
            <a:avLst/>
          </a:prstGeom>
          <a:solidFill>
            <a:srgbClr val="FF3C3C"/>
          </a:solidFill>
          <a:ln w="12700">
            <a:solidFill>
              <a:srgbClr val="FF3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112471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the weakest link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43560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$625M stolen without a single line of code being wrong. Private keys on internet-connected machines are the most exploited vector in crypto security.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12264"/>
            <a:ext cx="850392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12264"/>
            <a:ext cx="54864" cy="914400"/>
          </a:xfrm>
          <a:prstGeom prst="rect">
            <a:avLst/>
          </a:prstGeom>
          <a:solidFill>
            <a:srgbClr val="7C6FFF"/>
          </a:solidFill>
          <a:ln w="12700">
            <a:solidFill>
              <a:srgbClr val="7C6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854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" y="21854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can cost $320M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249631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missing check_account_owner() bypassed 19 Guardian validators. The smallest code omission in a critical path can have catastrophic consequences.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72968"/>
            <a:ext cx="850392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72968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" y="324612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"Temporary" means permanent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" y="3557016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Axie DAO permission was the 5th key Lazarus needed. Every emergency access grant needs a hard-coded expiry date — no exceptions.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233672"/>
            <a:ext cx="406908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233672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068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" y="4306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nobody's watching, nobody knows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$625M sat on-chain, publicly visible, for 6 days. On-chain transparency only protects you if someone is actually monitoring for anomalies.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4233672"/>
            <a:ext cx="4069080" cy="914400"/>
          </a:xfrm>
          <a:prstGeom prst="rect">
            <a:avLst/>
          </a:prstGeom>
          <a:solidFill>
            <a:srgbClr val="111822"/>
          </a:solidFill>
          <a:ln w="6350">
            <a:solidFill>
              <a:srgbClr val="1C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4233672"/>
            <a:ext cx="54864" cy="91440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3068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76672" y="4306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patches before disclosing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76672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Wormhole's attacker read the GitHub fix before deployment and raced to exploit it first. Security patches for live protocols are not open-source code.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— BIBLIOGRAPHY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Bibliography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332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04088" y="1005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Mavis — Ronin Network Bridge Exploit Post-Mortem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43400" y="1024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[PRIMARY]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4088" y="12618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Mavis Official Blog · March 2022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105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" y="1783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/ US Treasury OFAC — Attribution to Lazarus Group (DPRK)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18013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[GOVT]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4088" y="20391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Treasury Sanctions Notice · April 14, 2022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877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" y="2560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Wormhole — Incident Report: 120,000 wETH Exploit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2578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[PRIMARY]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4088" y="28163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Wormhole Official Blog · February 3, 2022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649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4088" y="3337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Wormhole fix commit a2640a3: 'add sysvar account owner check'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3355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[CODE]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" y="35935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Wormhole GitHub Repository · January 2022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84048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42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4088" y="4114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Neodyme Security — Technical Analysis of the Wormhole Exploit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43400" y="4133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6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[TECHNICAL]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4088" y="43708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Neodyme Security Blog · February 2022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0332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38928" y="1005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Vitalik Buterin — Why cross-chain bridges are fundamentally limited in 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78240" y="1024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[RESEARCH]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38928" y="12618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vitalik.ca · January 2022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50876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8105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38928" y="1783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Chainalysis — 2023 Crypto Crime Report (Bridge Hacks section)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78240" y="18013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[REPORT]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38928" y="20391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Chainalysis Annual Report · 2023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28600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5877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38928" y="2560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Panel of Experts — DPRK Cyber Operations and Sanctions Evasion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78240" y="2578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[GOVT]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38928" y="28163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Security Council · 2023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06324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3649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[9]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38928" y="3337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 et al. — Quantifying Blockchain Extractable Value (IEEE S&amp;P 2022)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78240" y="3355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D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[PAPER]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38928" y="35935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Security &amp; Privacy · 2022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84048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1422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38928" y="4114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Crypto — Statement on 120,000 ETH Replenishment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778240" y="4133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[PRIMARY]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38928" y="43708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Crypto Official Statement · February 2022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4617720"/>
            <a:ext cx="420624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0432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40864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11296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1728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22592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3024" y="0"/>
            <a:ext cx="0" cy="514350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3810">
            <a:solidFill>
              <a:srgbClr val="1C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FF3C3C">
              <a:alpha val="8000"/>
            </a:srgbClr>
          </a:solidFill>
          <a:ln w="12700">
            <a:solidFill>
              <a:srgbClr val="FF3C3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914400"/>
            <a:ext cx="5486400" cy="5486400"/>
          </a:xfrm>
          <a:prstGeom prst="ellipse">
            <a:avLst/>
          </a:prstGeom>
          <a:solidFill>
            <a:srgbClr val="7C6FFF">
              <a:alpha val="7000"/>
            </a:srgbClr>
          </a:solidFill>
          <a:ln w="12700">
            <a:solidFill>
              <a:srgbClr val="7C6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>
                    <a:alpha val="94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110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CROSS-CHAIN BRIDGE ATTACKS: RONIN ($625M) + WORMHOLE ($320M)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Why 5-of-9 wasn't enough to stop Ronin?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950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Why didn't Wormhole Guardians catch the fake VAA?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How does ZK bridging prevent these attacks?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950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Could monitoring have stopped either attack in time?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Technologies Course — Session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Cross-Chain Bridge Attacks — Ronin &amp; Wormhole</dc:title>
  <dc:subject>PptxGenJS Presentation</dc:subject>
  <dc:creator>Security Technologies Course</dc:creator>
  <cp:lastModifiedBy>Security Technologies Course</cp:lastModifiedBy>
  <cp:revision>1</cp:revision>
  <dcterms:created xsi:type="dcterms:W3CDTF">2026-05-21T17:37:15Z</dcterms:created>
  <dcterms:modified xsi:type="dcterms:W3CDTF">2026-05-21T17:37:15Z</dcterms:modified>
</cp:coreProperties>
</file>